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566928"/>
            <a:ext cx="42062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SMART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234440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1234440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1234440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0" y="1234440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79" y="1892808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892808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1892808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241280" y="1892808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79" y="2551176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2551176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26880" y="2551176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0" y="2551176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3209544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3209544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3209544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1280" y="3209544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3867912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867912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0" y="3867912"/>
            <a:ext cx="786384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41280" y="3867912"/>
            <a:ext cx="786384" cy="512064"/>
          </a:xfrm>
          <a:prstGeom prst="roundRect">
            <a:avLst/>
          </a:prstGeom>
          <a:solidFill>
            <a:srgbClr val="E2E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1005840"/>
            <a:ext cx="6126480" cy="1645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AUTOMATED</a:t>
            </a:r>
          </a:p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TIMETABLE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3063240"/>
            <a:ext cx="59436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DAE6F4"/>
                </a:solidFill>
                <a:latin typeface="Aptos"/>
              </a:defRPr>
            </a:pPr>
            <a:r>
              <a:t>A web-based system for generating and validating academic schedules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251960"/>
            <a:ext cx="1920240" cy="73152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58521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Presented by: [Your Name]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Department / Guide: [Add details]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18288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Manual scheduling is time-consuming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484632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Coordinators must assign subjects, faculty, rooms, days and periods while avoiding clashes.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82296" cy="1828800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90472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Conflicts are easy to miss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84632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Double-booked faculty, rooms or student sections can disrupt classes.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82296" cy="1828800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685032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Changes require repeated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78808"/>
            <a:ext cx="484632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A small change can force the timetable to be checked and adjusted 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82296" cy="1828800"/>
          </a:xfrm>
          <a:prstGeom prst="rect">
            <a:avLst/>
          </a:prstGeom>
          <a:solidFill>
            <a:srgbClr val="2F8B60"/>
          </a:solidFill>
          <a:ln>
            <a:solidFill>
              <a:srgbClr val="2F8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685032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Need for a consistent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178808"/>
            <a:ext cx="484632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A structured system can generate schedules and validate constraints more systematically.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342"/>
                </a:solidFill>
                <a:latin typeface="Aptos"/>
              </a:defRPr>
            </a:pPr>
            <a:r>
              <a:t>Generate a weekly timetable using configured teaching days and time slots.</a:t>
            </a:r>
          </a:p>
          <a:p>
            <a:pPr>
              <a:spcAft>
                <a:spcPts val="1500"/>
              </a:spcAft>
              <a:defRPr sz="2000">
                <a:solidFill>
                  <a:srgbClr val="283342"/>
                </a:solidFill>
                <a:latin typeface="Aptos"/>
              </a:defRPr>
            </a:pPr>
            <a:r>
              <a:t>Organize sessions by subject, student section, faculty member and room.</a:t>
            </a:r>
          </a:p>
          <a:p>
            <a:pPr>
              <a:spcAft>
                <a:spcPts val="1500"/>
              </a:spcAft>
              <a:defRPr sz="2000">
                <a:solidFill>
                  <a:srgbClr val="283342"/>
                </a:solidFill>
                <a:latin typeface="Aptos"/>
              </a:defRPr>
            </a:pPr>
            <a:r>
              <a:t>Detect or prevent faculty, room and section clashes.</a:t>
            </a:r>
          </a:p>
          <a:p>
            <a:pPr>
              <a:spcAft>
                <a:spcPts val="1500"/>
              </a:spcAft>
              <a:defRPr sz="2000">
                <a:solidFill>
                  <a:srgbClr val="283342"/>
                </a:solidFill>
                <a:latin typeface="Aptos"/>
              </a:defRPr>
            </a:pPr>
            <a:r>
              <a:t>Support structured input through JSON and spreadsheet workflows where configured.</a:t>
            </a:r>
          </a:p>
          <a:p>
            <a:pPr>
              <a:spcAft>
                <a:spcPts val="1500"/>
              </a:spcAft>
              <a:defRPr sz="2000">
                <a:solidFill>
                  <a:srgbClr val="283342"/>
                </a:solidFill>
                <a:latin typeface="Aptos"/>
              </a:defRPr>
            </a:pPr>
            <a:r>
              <a:t>Export the generated schedule for review and sharing.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Scope and Intended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338328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Department coordinators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3108960" cy="2606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Prepare and revise class schedules with a consistent input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82296" cy="3383280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Faculty coordinators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108960" cy="2606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Review assigned sessions and identify scheduling conflicts.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1732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417320"/>
            <a:ext cx="82296" cy="3383280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8191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Academic administrators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75688"/>
            <a:ext cx="3108960" cy="2606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Use the exported timetable for communication and planning.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27082"/>
                </a:solidFill>
                <a:latin typeface="Aptos"/>
              </a:defRPr>
            </a:pPr>
            <a:r>
              <a:t>Scope depends on the features and constraints implemented in the submitted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21031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32304"/>
            <a:ext cx="2066543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082"/>
                </a:solidFill>
                <a:latin typeface="Aptos"/>
              </a:defRPr>
            </a:pPr>
            <a:r>
              <a:t>Web page / input 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93392"/>
            <a:ext cx="21031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432304"/>
            <a:ext cx="2066543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082"/>
                </a:solidFill>
                <a:latin typeface="Aptos"/>
              </a:defRPr>
            </a:pPr>
            <a:r>
              <a:t>Check required keys and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21031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Scheduling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432304"/>
            <a:ext cx="2066543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082"/>
                </a:solidFill>
                <a:latin typeface="Aptos"/>
              </a:defRPr>
            </a:pPr>
            <a:r>
              <a:t>Assign sessions to day/slot/room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5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9339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Validation &amp;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432304"/>
            <a:ext cx="2295144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082"/>
                </a:solidFill>
                <a:latin typeface="Aptos"/>
              </a:defRPr>
            </a:pPr>
            <a:r>
              <a:t>Check clashes; display/export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148840"/>
            <a:ext cx="384048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A9E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3288" y="2148840"/>
            <a:ext cx="384048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A9E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148840"/>
            <a:ext cx="384048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1A9E9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24128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283342"/>
                </a:solidFill>
                <a:latin typeface="Aptos"/>
              </a:defRPr>
            </a:pPr>
            <a:r>
              <a:t>Input: days, slots, rooms and sessions  •  Processing: schedule generation  •  Output: timetable and validation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Implementation detail: confirm the exact algorithm and modules from the project source code before presenting.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Application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600200"/>
            <a:ext cx="475488" cy="475488"/>
          </a:xfrm>
          <a:prstGeom prst="round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36776"/>
            <a:ext cx="4754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5819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Configure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2971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27082"/>
                </a:solidFill>
                <a:latin typeface="Aptos"/>
              </a:defRPr>
            </a:pPr>
            <a:r>
              <a:t>Teaching days, time slots and 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36592" y="1600200"/>
            <a:ext cx="475488" cy="475488"/>
          </a:xfrm>
          <a:prstGeom prst="round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636776"/>
            <a:ext cx="4754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5819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Provide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76272"/>
            <a:ext cx="2971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27082"/>
                </a:solidFill>
                <a:latin typeface="Aptos"/>
              </a:defRPr>
            </a:pPr>
            <a:r>
              <a:t>Subject, section, faculty and room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31352" y="1600200"/>
            <a:ext cx="475488" cy="475488"/>
          </a:xfrm>
          <a:prstGeom prst="round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1636776"/>
            <a:ext cx="4754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15819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Validate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176272"/>
            <a:ext cx="2971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27082"/>
                </a:solidFill>
                <a:latin typeface="Aptos"/>
              </a:defRPr>
            </a:pPr>
            <a:r>
              <a:t>Required keys and supported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4747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1832" y="3657600"/>
            <a:ext cx="475488" cy="475488"/>
          </a:xfrm>
          <a:prstGeom prst="round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694176"/>
            <a:ext cx="4754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6393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33672"/>
            <a:ext cx="2971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27082"/>
                </a:solidFill>
                <a:latin typeface="Aptos"/>
              </a:defRPr>
            </a:pPr>
            <a:r>
              <a:t>Scheduling engine assigns sessions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4747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36592" y="3657600"/>
            <a:ext cx="475488" cy="475488"/>
          </a:xfrm>
          <a:prstGeom prst="round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694176"/>
            <a:ext cx="4754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36393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33672"/>
            <a:ext cx="2971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27082"/>
                </a:solidFill>
                <a:latin typeface="Aptos"/>
              </a:defRPr>
            </a:pPr>
            <a:r>
              <a:t>Detect clashes or report infeasibility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4747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31352" y="3657600"/>
            <a:ext cx="475488" cy="475488"/>
          </a:xfrm>
          <a:prstGeom prst="round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3694176"/>
            <a:ext cx="475488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8" y="3639312"/>
            <a:ext cx="233172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233672"/>
            <a:ext cx="29718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27082"/>
                </a:solidFill>
                <a:latin typeface="Aptos"/>
              </a:defRPr>
            </a:pPr>
            <a:r>
              <a:t>Review and share the timetable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627082"/>
                </a:solidFill>
                <a:latin typeface="Aptos"/>
              </a:defRPr>
            </a:pPr>
            <a:r>
              <a:t>A successful run should produce a timetable that satisfies the constraints configured in the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Input Data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292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142748"/>
                </a:solidFill>
                <a:latin typeface="Aptos"/>
              </a:defRPr>
            </a:pPr>
            <a:r>
              <a:t>Required top-level JSON keys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577840" cy="3886200"/>
          </a:xfrm>
          <a:prstGeom prst="roundRect">
            <a:avLst/>
          </a:prstGeom>
          <a:solidFill>
            <a:srgbClr val="142748"/>
          </a:solidFill>
          <a:ln>
            <a:solidFill>
              <a:srgbClr val="142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120640" cy="3520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"days": ["Monday", "Tuesday", "..."],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"slots": ["09:00-10:00", "..."],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"rooms": ["Room 101", "Lab 1"],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"sessions": [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{"subject": "Python", "section": "CSE-1A",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 "faculty": "Dr Rao", "room": "Room 101"}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]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82880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828800"/>
            <a:ext cx="82296" cy="109728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76288" y="1993392"/>
            <a:ext cx="429767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487168"/>
            <a:ext cx="42976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Teaching days included in the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1546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154680"/>
            <a:ext cx="82296" cy="1097280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3319272"/>
            <a:ext cx="429767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slots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3813048"/>
            <a:ext cx="42976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Available class periods.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48056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4480560"/>
            <a:ext cx="82296" cy="1097280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4645152"/>
            <a:ext cx="429767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rooms &amp;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5138928"/>
            <a:ext cx="42976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Available rooms and class-session details.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Scheduling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82296" cy="182880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Faculty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7"/>
            <a:ext cx="310896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One faculty member should not teach two sessions at the same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82296" cy="1828800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Room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7"/>
            <a:ext cx="310896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A room should not be allocated to two sessions at the same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371600"/>
            <a:ext cx="82296" cy="1828800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53619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Section 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029967"/>
            <a:ext cx="310896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A student section should not have overlapping classes.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Test each constraint with a deliberately conflicting input and confirm the application's actual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0">
                <a:solidFill>
                  <a:srgbClr val="627082"/>
                </a:solidFill>
                <a:latin typeface="Aptos"/>
              </a:defRPr>
            </a:pPr>
            <a:r>
              <a:t>If the scheduling engine cannot place all required sessions, it should report infeasibility rather than silently claiming success.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Testing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914400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822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748"/>
                </a:solidFill>
                <a:latin typeface="Aptos"/>
              </a:defRPr>
            </a:pPr>
            <a:r>
              <a:t>TC01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52728"/>
            <a:ext cx="32918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Valid five-day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252728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Timetable generated; verify no clashes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84248"/>
            <a:ext cx="914400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093976"/>
            <a:ext cx="822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748"/>
                </a:solidFill>
                <a:latin typeface="Aptos"/>
              </a:defRPr>
            </a:pPr>
            <a:r>
              <a:t>TC02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002536"/>
            <a:ext cx="32918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Same faculty / same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02536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Conflict or infeasibility detected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34056"/>
            <a:ext cx="914400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843784"/>
            <a:ext cx="822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748"/>
                </a:solidFill>
                <a:latin typeface="Aptos"/>
              </a:defRPr>
            </a:pPr>
            <a:r>
              <a:t>TC03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52344"/>
            <a:ext cx="32918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Same room / same slot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752344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Room double-booking prevented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83864"/>
            <a:ext cx="914400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593592"/>
            <a:ext cx="822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748"/>
                </a:solidFill>
                <a:latin typeface="Aptos"/>
              </a:defRPr>
            </a:pPr>
            <a:r>
              <a:t>TC04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502152"/>
            <a:ext cx="32918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Same section / same slot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02152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Section overlap prevented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33672"/>
            <a:ext cx="914400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343400"/>
            <a:ext cx="822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748"/>
                </a:solidFill>
                <a:latin typeface="Aptos"/>
              </a:defRPr>
            </a:pPr>
            <a:r>
              <a:t>TC05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51959"/>
            <a:ext cx="32918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Missing required JSON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251959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Clear validation error shown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79"/>
            <a:ext cx="914400" cy="512064"/>
          </a:xfrm>
          <a:prstGeom prst="roundRect">
            <a:avLst/>
          </a:prstGeom>
          <a:solidFill>
            <a:srgbClr val="E0F5F2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093207"/>
            <a:ext cx="8229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748"/>
                </a:solidFill>
                <a:latin typeface="Aptos"/>
              </a:defRPr>
            </a:pPr>
            <a:r>
              <a:t>TC06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01767"/>
            <a:ext cx="32918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42748"/>
                </a:solidFill>
                <a:latin typeface="Aptos"/>
              </a:defRPr>
            </a:pPr>
            <a:r>
              <a:t>Excel/CSV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001767"/>
            <a:ext cx="594360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Import/export works for supported 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A9E95"/>
                </a:solidFill>
                <a:latin typeface="Aptos"/>
              </a:defRPr>
            </a:pPr>
            <a:r>
              <a:t>Run automated tests with: python -m pytest -v  (from the project directory)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Demonstration and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627082"/>
                </a:solidFill>
                <a:latin typeface="Aptos"/>
              </a:defRPr>
            </a:pPr>
            <a:r>
              <a:t>Use this slide after running the application and recording real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82296" cy="1920240"/>
          </a:xfrm>
          <a:prstGeom prst="rect">
            <a:avLst/>
          </a:prstGeom>
          <a:solidFill>
            <a:srgbClr val="2B69B0"/>
          </a:solidFill>
          <a:ln>
            <a:solidFill>
              <a:srgbClr val="2B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Generated timetable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24328"/>
            <a:ext cx="310896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Insert screenshot of the actual timetable 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9659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965960"/>
            <a:ext cx="82296" cy="1920240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3055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Conflict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24328"/>
            <a:ext cx="310896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Insert screenshot of the real conflict/error message.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96596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965960"/>
            <a:ext cx="82296" cy="1920240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130552"/>
            <a:ext cx="31089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Exported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624328"/>
            <a:ext cx="310896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Insert screenshot of the CSV/Excel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24128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42748"/>
                </a:solidFill>
                <a:latin typeface="Aptos"/>
              </a:defRPr>
            </a:pPr>
            <a:r>
              <a:t>Report measured outcomes only: number of sessions scheduled, conflicts found, tests passed and any limitations.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42748"/>
                </a:solidFill>
                <a:latin typeface="Aptos"/>
              </a:defRPr>
            </a:pPr>
            <a:r>
              <a:t>Benefits and Current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1143000" cy="54864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6270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82296" cy="3383280"/>
          </a:xfrm>
          <a:prstGeom prst="rect">
            <a:avLst/>
          </a:prstGeom>
          <a:solidFill>
            <a:srgbClr val="2F8B60"/>
          </a:solidFill>
          <a:ln>
            <a:solidFill>
              <a:srgbClr val="2F8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Potential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4846320" cy="2606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Structured input and repeatable workflow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Faster timetable preparation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Easier conflict checking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Exportable schedule 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82296" cy="3383280"/>
          </a:xfrm>
          <a:prstGeom prst="rect">
            <a:avLst/>
          </a:prstGeom>
          <a:solidFill>
            <a:srgbClr val="E6973D"/>
          </a:solidFill>
          <a:ln>
            <a:solidFill>
              <a:srgbClr val="E69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42748"/>
                </a:solidFill>
                <a:latin typeface="Aptos"/>
              </a:defRPr>
            </a:pPr>
            <a:r>
              <a:t>Items to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75688"/>
            <a:ext cx="4846320" cy="2606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Exact algorithm used in source code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Whether Excel import is supported directly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Whether every conflict type is enforced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627082"/>
                </a:solidFill>
                <a:latin typeface="Aptos"/>
              </a:defRPr>
            </a:pPr>
            <a:r>
              <a:t>• Performance on larger datasets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C64D4D"/>
                </a:solidFill>
                <a:latin typeface="Aptos"/>
              </a:defRPr>
            </a:pPr>
            <a:r>
              <a:t>Do not claim features as complete until they have been verified in the running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2057400"/>
            <a:ext cx="1554480" cy="64008"/>
          </a:xfrm>
          <a:prstGeom prst="rect">
            <a:avLst/>
          </a:prstGeom>
          <a:solidFill>
            <a:srgbClr val="1A9E95"/>
          </a:solidFill>
          <a:ln>
            <a:solidFill>
              <a:srgbClr val="1A9E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606040"/>
            <a:ext cx="9784080" cy="12801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7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The Automated Timetable Generator provides a structured workflow for configuring academic sessions, generating a weekly schedule and checking scheduling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389120"/>
            <a:ext cx="978408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7DDCD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852160"/>
            <a:ext cx="9784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DAE6F4"/>
                </a:solidFill>
                <a:latin typeface="Aptos"/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